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7"/>
  </p:notesMasterIdLst>
  <p:sldIdLst>
    <p:sldId id="256" r:id="rId3"/>
    <p:sldId id="571" r:id="rId4"/>
    <p:sldId id="572" r:id="rId5"/>
    <p:sldId id="580" r:id="rId6"/>
    <p:sldId id="581" r:id="rId7"/>
    <p:sldId id="582" r:id="rId8"/>
    <p:sldId id="583" r:id="rId9"/>
    <p:sldId id="584" r:id="rId10"/>
    <p:sldId id="585" r:id="rId11"/>
    <p:sldId id="586"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aib Shaikh" userId="429fd3f1c5c4ff98" providerId="LiveId" clId="{05C40261-0A0B-491F-A3E4-BB6A3355A305}"/>
    <pc:docChg chg="addSld delSld">
      <pc:chgData name="Shoaib Shaikh" userId="429fd3f1c5c4ff98" providerId="LiveId" clId="{05C40261-0A0B-491F-A3E4-BB6A3355A305}" dt="2026-03-14T15:14:23.499" v="1" actId="2696"/>
      <pc:docMkLst>
        <pc:docMk/>
      </pc:docMkLst>
      <pc:sldChg chg="new del">
        <pc:chgData name="Shoaib Shaikh" userId="429fd3f1c5c4ff98" providerId="LiveId" clId="{05C40261-0A0B-491F-A3E4-BB6A3355A305}" dt="2026-03-14T15:14:23.499" v="1" actId="2696"/>
        <pc:sldMkLst>
          <pc:docMk/>
          <pc:sldMk cId="2991014335" sldId="5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476540" y="1056334"/>
            <a:ext cx="4746772" cy="2506766"/>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Aptos"/>
              </a:rPr>
              <a:t>Azure Cloud FinOps &amp; AI Workload Optimization Dashboard</a:t>
            </a:r>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Shoaib Akhtar Shaikh</a:t>
            </a:r>
          </a:p>
          <a:p>
            <a:pPr algn="l">
              <a:spcAft>
                <a:spcPts val="600"/>
              </a:spcAft>
            </a:pPr>
            <a:r>
              <a:rPr lang="en-US" sz="1600" b="1" cap="all" dirty="0"/>
              <a:t>College Name: ARMIET COLLEGE</a:t>
            </a:r>
          </a:p>
          <a:p>
            <a:pPr algn="l">
              <a:spcAft>
                <a:spcPts val="600"/>
              </a:spcAft>
            </a:pPr>
            <a:r>
              <a:rPr lang="en-US" sz="1600" b="1" cap="all" dirty="0"/>
              <a:t>Department: CSE (AIML)</a:t>
            </a:r>
          </a:p>
          <a:p>
            <a:pPr algn="l">
              <a:spcAft>
                <a:spcPts val="600"/>
              </a:spcAft>
            </a:pPr>
            <a:r>
              <a:rPr lang="en-US" sz="1600" b="1" cap="all" dirty="0"/>
              <a:t>Email ID: SHoneonaib7858@gmail.com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rcRect b="8179"/>
          <a:stretch>
            <a:fillRect/>
          </a:stretch>
        </p:blipFill>
        <p:spPr>
          <a:xfrm>
            <a:off x="6596743" y="963030"/>
            <a:ext cx="3959306" cy="48486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a:t>
            </a: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Approach</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Results</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90512" y="890969"/>
            <a:ext cx="10223897" cy="1325563"/>
          </a:xfrm>
        </p:spPr>
        <p:txBody>
          <a:bodyPr lIns="91440" tIns="45720" rIns="91440" bIns="45720" anchor="t">
            <a:normAutofit/>
          </a:bodyPr>
          <a:lstStyle/>
          <a:p>
            <a:r>
              <a:rPr lang="en-US" sz="4000" b="1" cap="all" dirty="0">
                <a:latin typeface="Arial" panose="020B0604020202020204"/>
                <a:cs typeface="Arial" panose="020B0604020202020204"/>
              </a:rPr>
              <a:t>Problem Statement:</a:t>
            </a:r>
            <a:endParaRPr lang="en-US" sz="4000" dirty="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algn="just"/>
            <a:r>
              <a:rPr lang="en-US" sz="2200" dirty="0"/>
              <a:t>Cloud computing costs frequently spiral out of control in enterprise environments, particularly when deploying heavy, resource-intensive AI workloads like LLM training and predictive analytics.</a:t>
            </a:r>
          </a:p>
          <a:p>
            <a:pPr algn="just"/>
            <a:r>
              <a:rPr lang="en-US" sz="2200" dirty="0"/>
              <a:t>Engineering and management teams struggle to identify "Zombie Servers"—virtual machines that consume a large portion of the financial budget but operate at extremely low CPU utilization.</a:t>
            </a:r>
          </a:p>
          <a:p>
            <a:pPr algn="just"/>
            <a:r>
              <a:rPr lang="en-US" sz="2200" dirty="0"/>
              <a:t>A major operational concern is the lack of real-time visibility into wasted spend and the inability to quickly identify idle server hours to enforce automated cost-saving measures.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8A4194-B87F-84AF-DB4A-1B1B87BFB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1F594-4E6B-BB6E-A265-6E2D95EFB80A}"/>
              </a:ext>
            </a:extLst>
          </p:cNvPr>
          <p:cNvSpPr>
            <a:spLocks noGrp="1"/>
          </p:cNvSpPr>
          <p:nvPr>
            <p:ph type="title"/>
          </p:nvPr>
        </p:nvSpPr>
        <p:spPr>
          <a:xfrm>
            <a:off x="290512" y="890969"/>
            <a:ext cx="10223897" cy="1325563"/>
          </a:xfrm>
        </p:spPr>
        <p:txBody>
          <a:bodyPr lIns="91440" tIns="45720" rIns="91440" bIns="45720" anchor="t">
            <a:normAutofit/>
          </a:bodyPr>
          <a:lstStyle/>
          <a:p>
            <a:r>
              <a:rPr lang="en-US" sz="4000" b="1" cap="all" dirty="0">
                <a:latin typeface="Arial" panose="020B0604020202020204"/>
                <a:cs typeface="Arial" panose="020B0604020202020204"/>
              </a:rPr>
              <a:t>Proposed system/solution:</a:t>
            </a:r>
            <a:endParaRPr lang="en-US" sz="4000" dirty="0"/>
          </a:p>
        </p:txBody>
      </p:sp>
      <p:sp>
        <p:nvSpPr>
          <p:cNvPr id="3" name="Content Placeholder 2">
            <a:extLst>
              <a:ext uri="{FF2B5EF4-FFF2-40B4-BE49-F238E27FC236}">
                <a16:creationId xmlns:a16="http://schemas.microsoft.com/office/drawing/2014/main" id="{CF607CCB-8302-2677-5DEB-96600C061168}"/>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lgn="just">
              <a:buNone/>
            </a:pPr>
            <a:r>
              <a:rPr lang="en-US" sz="2200" dirty="0"/>
              <a:t>The proposed system is an enterprise-grade Azure Cloud FinOps dashboard built to actively monitor, trace, and optimize cloud infrastructure spend.</a:t>
            </a:r>
          </a:p>
          <a:p>
            <a:pPr algn="just"/>
            <a:r>
              <a:rPr lang="en-US" sz="2200" dirty="0"/>
              <a:t>Data Pipeline: Ingest and transform raw server telemetry (timestamps, CPU usage, execution time) into actionable financial metrics.</a:t>
            </a:r>
          </a:p>
          <a:p>
            <a:pPr algn="just"/>
            <a:r>
              <a:rPr lang="en-US" sz="2200" dirty="0"/>
              <a:t>Analytics Engine: Calculate exact wasted spend thresholds by decomposing generic tasks into specific Azure hardware costs (e.g., NC A100 GPUs vs. B-Series).</a:t>
            </a:r>
          </a:p>
          <a:p>
            <a:pPr algn="just"/>
            <a:r>
              <a:rPr lang="en-US" sz="2200" dirty="0"/>
              <a:t>Actionable UI: Provide a dynamic diagnostic simulator and an Automation Heatmap to visually expose idle hours for safe server shutdowns.</a:t>
            </a:r>
          </a:p>
        </p:txBody>
      </p:sp>
    </p:spTree>
    <p:extLst>
      <p:ext uri="{BB962C8B-B14F-4D97-AF65-F5344CB8AC3E}">
        <p14:creationId xmlns:p14="http://schemas.microsoft.com/office/powerpoint/2010/main" val="4129477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B9DFD7-A5FB-D3B1-B0B3-715405D45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44806F-35A6-94F0-E7F4-3DD826F8F431}"/>
              </a:ext>
            </a:extLst>
          </p:cNvPr>
          <p:cNvSpPr>
            <a:spLocks noGrp="1"/>
          </p:cNvSpPr>
          <p:nvPr>
            <p:ph type="title"/>
          </p:nvPr>
        </p:nvSpPr>
        <p:spPr>
          <a:xfrm>
            <a:off x="290512" y="890969"/>
            <a:ext cx="10223897"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a:extLst>
              <a:ext uri="{FF2B5EF4-FFF2-40B4-BE49-F238E27FC236}">
                <a16:creationId xmlns:a16="http://schemas.microsoft.com/office/drawing/2014/main" id="{B498879D-BDFC-9359-882B-5A53D8922CAF}"/>
              </a:ext>
            </a:extLst>
          </p:cNvPr>
          <p:cNvSpPr>
            <a:spLocks noGrp="1"/>
          </p:cNvSpPr>
          <p:nvPr>
            <p:ph idx="1"/>
          </p:nvPr>
        </p:nvSpPr>
        <p:spPr>
          <a:xfrm>
            <a:off x="290512" y="1715071"/>
            <a:ext cx="10515600" cy="4251960"/>
          </a:xfrm>
        </p:spPr>
        <p:txBody>
          <a:bodyPr vert="horz" lIns="91440" tIns="45720" rIns="91440" bIns="45720" rtlCol="0">
            <a:normAutofit/>
          </a:bodyPr>
          <a:lstStyle/>
          <a:p>
            <a:pPr marL="457200" indent="-457200" algn="just">
              <a:buFont typeface="+mj-lt"/>
              <a:buAutoNum type="arabicPeriod"/>
            </a:pPr>
            <a:r>
              <a:rPr lang="en-US" sz="2200" dirty="0"/>
              <a:t>System Requirements: Power BI Desktop for data modeling, visualization, and DAX metric calculation. </a:t>
            </a:r>
          </a:p>
          <a:p>
            <a:pPr marL="457200" indent="-457200" algn="just">
              <a:buFont typeface="+mj-lt"/>
              <a:buAutoNum type="arabicPeriod"/>
            </a:pPr>
            <a:r>
              <a:rPr lang="en-US" sz="2200" dirty="0"/>
              <a:t>Data Engineering Strategy: Utilized Power Query M language to clean data, split datetimes for chronological accuracy, and implement conditional logic to assign Microsoft hardware pricing.</a:t>
            </a:r>
          </a:p>
          <a:p>
            <a:pPr marL="457200" indent="-457200" algn="just">
              <a:buFont typeface="+mj-lt"/>
              <a:buAutoNum type="arabicPeriod"/>
            </a:pPr>
            <a:r>
              <a:rPr lang="en-US" sz="2200" dirty="0"/>
              <a:t>Enterprise Architecture: Implementation of a highly optimized Star Schema, connecting a central </a:t>
            </a:r>
            <a:r>
              <a:rPr lang="en-US" sz="2200" dirty="0" err="1"/>
              <a:t>Fact_Telemetry</a:t>
            </a:r>
            <a:r>
              <a:rPr lang="en-US" sz="2200" dirty="0"/>
              <a:t> table to distinct Dimension tables (</a:t>
            </a:r>
            <a:r>
              <a:rPr lang="en-US" sz="2200" dirty="0" err="1"/>
              <a:t>Dim_Date</a:t>
            </a:r>
            <a:r>
              <a:rPr lang="en-US" sz="2200" dirty="0"/>
              <a:t>, </a:t>
            </a:r>
            <a:r>
              <a:rPr lang="en-US" sz="2200" dirty="0" err="1"/>
              <a:t>Dim_Workload</a:t>
            </a:r>
            <a:r>
              <a:rPr lang="en-US" sz="2200" dirty="0"/>
              <a:t>, </a:t>
            </a:r>
            <a:r>
              <a:rPr lang="en-US" sz="2200" dirty="0" err="1"/>
              <a:t>Dim_Hardware</a:t>
            </a:r>
            <a:r>
              <a:rPr lang="en-US" sz="2200" dirty="0"/>
              <a:t>).</a:t>
            </a:r>
          </a:p>
        </p:txBody>
      </p:sp>
    </p:spTree>
    <p:extLst>
      <p:ext uri="{BB962C8B-B14F-4D97-AF65-F5344CB8AC3E}">
        <p14:creationId xmlns:p14="http://schemas.microsoft.com/office/powerpoint/2010/main" val="1106582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479852-86BB-F64A-E2B8-F0349DBE3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CAEB9-07CA-780A-7F45-8D53BEC9BBAE}"/>
              </a:ext>
            </a:extLst>
          </p:cNvPr>
          <p:cNvSpPr>
            <a:spLocks noGrp="1"/>
          </p:cNvSpPr>
          <p:nvPr>
            <p:ph type="title"/>
          </p:nvPr>
        </p:nvSpPr>
        <p:spPr>
          <a:xfrm>
            <a:off x="290512" y="890969"/>
            <a:ext cx="10223897" cy="1325563"/>
          </a:xfrm>
        </p:spPr>
        <p:txBody>
          <a:bodyPr lIns="91440" tIns="45720" rIns="91440" bIns="45720" anchor="t">
            <a:normAutofit/>
          </a:bodyPr>
          <a:lstStyle/>
          <a:p>
            <a:r>
              <a:rPr lang="en-US" sz="4000" b="1" cap="all" dirty="0">
                <a:latin typeface="Arial" panose="020B0604020202020204"/>
                <a:cs typeface="Arial" panose="020B0604020202020204"/>
              </a:rPr>
              <a:t>Algorithm and deployment:</a:t>
            </a:r>
            <a:endParaRPr lang="en-US" sz="4000" dirty="0"/>
          </a:p>
        </p:txBody>
      </p:sp>
      <p:sp>
        <p:nvSpPr>
          <p:cNvPr id="3" name="Content Placeholder 2">
            <a:extLst>
              <a:ext uri="{FF2B5EF4-FFF2-40B4-BE49-F238E27FC236}">
                <a16:creationId xmlns:a16="http://schemas.microsoft.com/office/drawing/2014/main" id="{E8A0C958-80A8-F18F-C73E-FBA603BB354E}"/>
              </a:ext>
            </a:extLst>
          </p:cNvPr>
          <p:cNvSpPr>
            <a:spLocks noGrp="1"/>
          </p:cNvSpPr>
          <p:nvPr>
            <p:ph idx="1"/>
          </p:nvPr>
        </p:nvSpPr>
        <p:spPr>
          <a:xfrm>
            <a:off x="290512" y="1715071"/>
            <a:ext cx="10515600" cy="4251960"/>
          </a:xfrm>
        </p:spPr>
        <p:txBody>
          <a:bodyPr vert="horz" lIns="91440" tIns="45720" rIns="91440" bIns="45720" rtlCol="0">
            <a:normAutofit/>
          </a:bodyPr>
          <a:lstStyle/>
          <a:p>
            <a:pPr marL="457200" indent="-457200" algn="just">
              <a:buFont typeface="+mj-lt"/>
              <a:buAutoNum type="arabicPeriod"/>
            </a:pPr>
            <a:r>
              <a:rPr lang="en-US" sz="2200" dirty="0"/>
              <a:t>Algorithm Selection: Utilized Power BI's native Exponential Smoothing algorithm for 30-day spend forecasting. Additionally, implemented DAX-based dynamic thresholding parameters to detect Zombie Servers.</a:t>
            </a:r>
          </a:p>
          <a:p>
            <a:pPr marL="457200" indent="-457200" algn="just">
              <a:buFont typeface="+mj-lt"/>
              <a:buAutoNum type="arabicPeriod"/>
            </a:pPr>
            <a:r>
              <a:rPr lang="en-US" sz="2200" dirty="0"/>
              <a:t>Data Input: Historical server telemetry data containing execution times, workload priorities, and CPU usage percentages.</a:t>
            </a:r>
          </a:p>
          <a:p>
            <a:pPr marL="457200" indent="-457200" algn="just">
              <a:buFont typeface="+mj-lt"/>
              <a:buAutoNum type="arabicPeriod"/>
            </a:pPr>
            <a:r>
              <a:rPr lang="en-US" sz="2200" dirty="0"/>
              <a:t>Prediction Process: A 'What-If' parameter allows stakeholders to dynamically adjust the minimum CPU efficiency threshold (e.g., changing from 15% to 20%) to instantly simulate potential cost savings in real-time.</a:t>
            </a:r>
          </a:p>
        </p:txBody>
      </p:sp>
    </p:spTree>
    <p:extLst>
      <p:ext uri="{BB962C8B-B14F-4D97-AF65-F5344CB8AC3E}">
        <p14:creationId xmlns:p14="http://schemas.microsoft.com/office/powerpoint/2010/main" val="2435247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3F6379-7FDA-6AD8-2469-D69E8F736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A49F8-31C9-2B2E-F2F5-39723E8DC90C}"/>
              </a:ext>
            </a:extLst>
          </p:cNvPr>
          <p:cNvSpPr>
            <a:spLocks noGrp="1"/>
          </p:cNvSpPr>
          <p:nvPr>
            <p:ph type="title" idx="4294967295"/>
          </p:nvPr>
        </p:nvSpPr>
        <p:spPr>
          <a:xfrm>
            <a:off x="0" y="890588"/>
            <a:ext cx="10223500" cy="1325562"/>
          </a:xfrm>
        </p:spPr>
        <p:txBody>
          <a:bodyPr lIns="91440" tIns="45720" rIns="91440" bIns="45720" anchor="t">
            <a:normAutofit/>
          </a:bodyPr>
          <a:lstStyle/>
          <a:p>
            <a:r>
              <a:rPr lang="en-US" sz="4000" b="1" cap="all" dirty="0">
                <a:latin typeface="Arial" panose="020B0604020202020204"/>
                <a:cs typeface="Arial" panose="020B0604020202020204"/>
              </a:rPr>
              <a:t>Results:</a:t>
            </a:r>
            <a:endParaRPr lang="en-US" sz="4000" dirty="0"/>
          </a:p>
        </p:txBody>
      </p:sp>
      <p:pic>
        <p:nvPicPr>
          <p:cNvPr id="7" name="Picture 6">
            <a:extLst>
              <a:ext uri="{FF2B5EF4-FFF2-40B4-BE49-F238E27FC236}">
                <a16:creationId xmlns:a16="http://schemas.microsoft.com/office/drawing/2014/main" id="{FB436585-4720-2E60-F042-E966BDF3D5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45794" y="1553369"/>
            <a:ext cx="7700412" cy="4332954"/>
          </a:xfrm>
          <a:prstGeom prst="rect">
            <a:avLst/>
          </a:prstGeom>
          <a:ln>
            <a:solidFill>
              <a:schemeClr val="tx1"/>
            </a:solidFill>
          </a:ln>
        </p:spPr>
      </p:pic>
      <p:sp>
        <p:nvSpPr>
          <p:cNvPr id="8" name="Content Placeholder 2">
            <a:extLst>
              <a:ext uri="{FF2B5EF4-FFF2-40B4-BE49-F238E27FC236}">
                <a16:creationId xmlns:a16="http://schemas.microsoft.com/office/drawing/2014/main" id="{FCB8B6C4-7EEE-0976-919B-1F5F3487525A}"/>
              </a:ext>
            </a:extLst>
          </p:cNvPr>
          <p:cNvSpPr txBox="1">
            <a:spLocks/>
          </p:cNvSpPr>
          <p:nvPr/>
        </p:nvSpPr>
        <p:spPr>
          <a:xfrm>
            <a:off x="2245792" y="5967412"/>
            <a:ext cx="7700413" cy="368664"/>
          </a:xfr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dirty="0"/>
              <a:t>Page 1: Executive Overview</a:t>
            </a:r>
          </a:p>
        </p:txBody>
      </p:sp>
    </p:spTree>
    <p:extLst>
      <p:ext uri="{BB962C8B-B14F-4D97-AF65-F5344CB8AC3E}">
        <p14:creationId xmlns:p14="http://schemas.microsoft.com/office/powerpoint/2010/main" val="921731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38E2A1-1888-FB6B-8A28-E57AB2204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33646-F093-DD55-7840-A0536FEE0606}"/>
              </a:ext>
            </a:extLst>
          </p:cNvPr>
          <p:cNvSpPr>
            <a:spLocks noGrp="1"/>
          </p:cNvSpPr>
          <p:nvPr>
            <p:ph type="title" idx="4294967295"/>
          </p:nvPr>
        </p:nvSpPr>
        <p:spPr>
          <a:xfrm>
            <a:off x="0" y="890588"/>
            <a:ext cx="10223500" cy="1325562"/>
          </a:xfrm>
        </p:spPr>
        <p:txBody>
          <a:bodyPr lIns="91440" tIns="45720" rIns="91440" bIns="45720" anchor="t">
            <a:normAutofit/>
          </a:bodyPr>
          <a:lstStyle/>
          <a:p>
            <a:r>
              <a:rPr lang="en-US" sz="4000" b="1" cap="all" dirty="0">
                <a:latin typeface="Arial" panose="020B0604020202020204"/>
                <a:cs typeface="Arial" panose="020B0604020202020204"/>
              </a:rPr>
              <a:t>Results:</a:t>
            </a:r>
            <a:endParaRPr lang="en-US" sz="4000" dirty="0"/>
          </a:p>
        </p:txBody>
      </p:sp>
      <p:pic>
        <p:nvPicPr>
          <p:cNvPr id="7" name="Picture 6">
            <a:extLst>
              <a:ext uri="{FF2B5EF4-FFF2-40B4-BE49-F238E27FC236}">
                <a16:creationId xmlns:a16="http://schemas.microsoft.com/office/drawing/2014/main" id="{84A74536-2271-7336-D726-9C41AB2F366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45794" y="1554289"/>
            <a:ext cx="7700412" cy="4331113"/>
          </a:xfrm>
          <a:prstGeom prst="rect">
            <a:avLst/>
          </a:prstGeom>
          <a:ln>
            <a:solidFill>
              <a:schemeClr val="tx1"/>
            </a:solidFill>
          </a:ln>
        </p:spPr>
      </p:pic>
      <p:sp>
        <p:nvSpPr>
          <p:cNvPr id="8" name="Content Placeholder 2">
            <a:extLst>
              <a:ext uri="{FF2B5EF4-FFF2-40B4-BE49-F238E27FC236}">
                <a16:creationId xmlns:a16="http://schemas.microsoft.com/office/drawing/2014/main" id="{348BB5BE-0A07-699D-CB48-A8FAF5E79F42}"/>
              </a:ext>
            </a:extLst>
          </p:cNvPr>
          <p:cNvSpPr txBox="1">
            <a:spLocks/>
          </p:cNvSpPr>
          <p:nvPr/>
        </p:nvSpPr>
        <p:spPr>
          <a:xfrm>
            <a:off x="2245792" y="5967412"/>
            <a:ext cx="7700413" cy="368664"/>
          </a:xfr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dirty="0"/>
              <a:t>Page 2: AI Workloads</a:t>
            </a:r>
          </a:p>
        </p:txBody>
      </p:sp>
    </p:spTree>
    <p:extLst>
      <p:ext uri="{BB962C8B-B14F-4D97-AF65-F5344CB8AC3E}">
        <p14:creationId xmlns:p14="http://schemas.microsoft.com/office/powerpoint/2010/main" val="2686955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D02BA5-2D4F-7EEB-3CD5-63E609066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7424D-80F2-CA06-7744-CD3C969AB602}"/>
              </a:ext>
            </a:extLst>
          </p:cNvPr>
          <p:cNvSpPr>
            <a:spLocks noGrp="1"/>
          </p:cNvSpPr>
          <p:nvPr>
            <p:ph type="title" idx="4294967295"/>
          </p:nvPr>
        </p:nvSpPr>
        <p:spPr>
          <a:xfrm>
            <a:off x="0" y="890588"/>
            <a:ext cx="10223500" cy="1325562"/>
          </a:xfrm>
        </p:spPr>
        <p:txBody>
          <a:bodyPr lIns="91440" tIns="45720" rIns="91440" bIns="45720" anchor="t">
            <a:normAutofit/>
          </a:bodyPr>
          <a:lstStyle/>
          <a:p>
            <a:r>
              <a:rPr lang="en-US" sz="4000" b="1" cap="all" dirty="0">
                <a:latin typeface="Arial" panose="020B0604020202020204"/>
                <a:cs typeface="Arial" panose="020B0604020202020204"/>
              </a:rPr>
              <a:t>Results:</a:t>
            </a:r>
            <a:endParaRPr lang="en-US" sz="4000" dirty="0"/>
          </a:p>
        </p:txBody>
      </p:sp>
      <p:pic>
        <p:nvPicPr>
          <p:cNvPr id="7" name="Picture 6">
            <a:extLst>
              <a:ext uri="{FF2B5EF4-FFF2-40B4-BE49-F238E27FC236}">
                <a16:creationId xmlns:a16="http://schemas.microsoft.com/office/drawing/2014/main" id="{9BA4B326-663F-C0B2-2F9C-74C2526DA95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45794" y="1571372"/>
            <a:ext cx="7700412" cy="4296947"/>
          </a:xfrm>
          <a:prstGeom prst="rect">
            <a:avLst/>
          </a:prstGeom>
          <a:ln>
            <a:solidFill>
              <a:schemeClr val="tx1"/>
            </a:solidFill>
          </a:ln>
        </p:spPr>
      </p:pic>
      <p:sp>
        <p:nvSpPr>
          <p:cNvPr id="8" name="Content Placeholder 2">
            <a:extLst>
              <a:ext uri="{FF2B5EF4-FFF2-40B4-BE49-F238E27FC236}">
                <a16:creationId xmlns:a16="http://schemas.microsoft.com/office/drawing/2014/main" id="{B5B87188-8B05-CDA4-E2BC-C768E11A0D50}"/>
              </a:ext>
            </a:extLst>
          </p:cNvPr>
          <p:cNvSpPr txBox="1">
            <a:spLocks/>
          </p:cNvSpPr>
          <p:nvPr/>
        </p:nvSpPr>
        <p:spPr>
          <a:xfrm>
            <a:off x="2245792" y="5967412"/>
            <a:ext cx="7700413" cy="368664"/>
          </a:xfr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dirty="0"/>
              <a:t>Page 3: Diagnostics</a:t>
            </a:r>
          </a:p>
        </p:txBody>
      </p:sp>
    </p:spTree>
    <p:extLst>
      <p:ext uri="{BB962C8B-B14F-4D97-AF65-F5344CB8AC3E}">
        <p14:creationId xmlns:p14="http://schemas.microsoft.com/office/powerpoint/2010/main" val="3486343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9C784A-7BE0-2FCF-8F7F-DB3C9DD31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9F219-57F6-1F9C-579D-069F2EEA4742}"/>
              </a:ext>
            </a:extLst>
          </p:cNvPr>
          <p:cNvSpPr>
            <a:spLocks noGrp="1"/>
          </p:cNvSpPr>
          <p:nvPr>
            <p:ph type="title" idx="4294967295"/>
          </p:nvPr>
        </p:nvSpPr>
        <p:spPr>
          <a:xfrm>
            <a:off x="0" y="890588"/>
            <a:ext cx="10223500" cy="1325562"/>
          </a:xfrm>
        </p:spPr>
        <p:txBody>
          <a:bodyPr lIns="91440" tIns="45720" rIns="91440" bIns="45720" anchor="t">
            <a:normAutofit/>
          </a:bodyPr>
          <a:lstStyle/>
          <a:p>
            <a:r>
              <a:rPr lang="en-US" sz="4000" b="1" cap="all" dirty="0">
                <a:latin typeface="Arial" panose="020B0604020202020204"/>
                <a:cs typeface="Arial" panose="020B0604020202020204"/>
              </a:rPr>
              <a:t>Results:</a:t>
            </a:r>
            <a:endParaRPr lang="en-US" sz="4000" dirty="0"/>
          </a:p>
        </p:txBody>
      </p:sp>
      <p:pic>
        <p:nvPicPr>
          <p:cNvPr id="7" name="Picture 6">
            <a:extLst>
              <a:ext uri="{FF2B5EF4-FFF2-40B4-BE49-F238E27FC236}">
                <a16:creationId xmlns:a16="http://schemas.microsoft.com/office/drawing/2014/main" id="{A72E7827-BD7B-47F4-C694-C5D5392425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46450" y="1553369"/>
            <a:ext cx="7699099" cy="4332954"/>
          </a:xfrm>
          <a:prstGeom prst="rect">
            <a:avLst/>
          </a:prstGeom>
          <a:ln>
            <a:solidFill>
              <a:schemeClr val="tx1"/>
            </a:solidFill>
          </a:ln>
        </p:spPr>
      </p:pic>
      <p:sp>
        <p:nvSpPr>
          <p:cNvPr id="8" name="Content Placeholder 2">
            <a:extLst>
              <a:ext uri="{FF2B5EF4-FFF2-40B4-BE49-F238E27FC236}">
                <a16:creationId xmlns:a16="http://schemas.microsoft.com/office/drawing/2014/main" id="{85DFCEB6-0B7B-CEAF-4F21-1CDD176F7E93}"/>
              </a:ext>
            </a:extLst>
          </p:cNvPr>
          <p:cNvSpPr txBox="1">
            <a:spLocks/>
          </p:cNvSpPr>
          <p:nvPr/>
        </p:nvSpPr>
        <p:spPr>
          <a:xfrm>
            <a:off x="2245792" y="5967412"/>
            <a:ext cx="7700413" cy="368664"/>
          </a:xfr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dirty="0"/>
              <a:t>Page 4: Automation Heatmap</a:t>
            </a:r>
          </a:p>
        </p:txBody>
      </p:sp>
    </p:spTree>
    <p:extLst>
      <p:ext uri="{BB962C8B-B14F-4D97-AF65-F5344CB8AC3E}">
        <p14:creationId xmlns:p14="http://schemas.microsoft.com/office/powerpoint/2010/main" val="3159164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3258" y="876922"/>
            <a:ext cx="10515600" cy="1325563"/>
          </a:xfrm>
        </p:spPr>
        <p:txBody>
          <a:bodyPr lIns="91440" tIns="45720" rIns="91440" bIns="45720" anchor="t">
            <a:normAutofit/>
          </a:bodyPr>
          <a:lstStyle/>
          <a:p>
            <a:r>
              <a:rPr lang="en-US" sz="4000" b="1" cap="all" dirty="0">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lgn="just">
              <a:buNone/>
            </a:pPr>
            <a:r>
              <a:rPr lang="en-US" sz="2200" dirty="0"/>
              <a:t>The dashboard effectively bridges the gap between cloud engineering and finance teams by providing granular, undeniable visibility into AI workload costs. It enables proactive financial operations by highlighting inefficiencies and providing actionable data formats (like the Heatmap) for writing automated server shutdown scripts. Demonstrates the critical importance of aligning technical server telemetry with business finance to ensure sustainable enterprise AI deployment.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8071" y="904914"/>
            <a:ext cx="10515600" cy="1325563"/>
          </a:xfrm>
        </p:spPr>
        <p:txBody>
          <a:bodyPr lIns="91440" tIns="45720" rIns="91440" bIns="45720" anchor="t">
            <a:normAutofit/>
          </a:bodyPr>
          <a:lstStyle/>
          <a:p>
            <a:r>
              <a:rPr lang="en-US" sz="4000" b="1" cap="all" dirty="0">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845610"/>
            <a:ext cx="10515600" cy="4251960"/>
          </a:xfrm>
        </p:spPr>
        <p:txBody>
          <a:bodyPr vert="horz" lIns="91440" tIns="45720" rIns="91440" bIns="45720" rtlCol="0">
            <a:normAutofit/>
          </a:bodyPr>
          <a:lstStyle/>
          <a:p>
            <a:pPr marL="0" indent="0" algn="just">
              <a:buNone/>
            </a:pPr>
            <a:r>
              <a:rPr lang="en-US" sz="2200" dirty="0"/>
              <a:t>Integration with live Azure billing APIs to stream real-time telemetry into the dashboard rather than relying on static analytical datasets. Implementing automated, proactive alert systems to immediately notify engineering teams when a server drops below the efficiency threshold for a sustained period. Expanding the Decomposition Tree to track costs across multi-cloud environments (AWS and GCP) alongside Azure.</a:t>
            </a:r>
            <a:endParaRPr lang="en-GB"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6804" y="888343"/>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References:</a:t>
            </a:r>
            <a:endParaRPr lang="en-US" sz="4000" dirty="0"/>
          </a:p>
        </p:txBody>
      </p:sp>
      <p:sp>
        <p:nvSpPr>
          <p:cNvPr id="3" name="Content Placeholder 2"/>
          <p:cNvSpPr>
            <a:spLocks noGrp="1"/>
          </p:cNvSpPr>
          <p:nvPr>
            <p:ph idx="1"/>
          </p:nvPr>
        </p:nvSpPr>
        <p:spPr>
          <a:xfrm>
            <a:off x="196804" y="1887027"/>
            <a:ext cx="10515600" cy="4251960"/>
          </a:xfrm>
        </p:spPr>
        <p:txBody>
          <a:bodyPr vert="horz" lIns="91440" tIns="45720" rIns="91440" bIns="45720" rtlCol="0" anchor="t">
            <a:normAutofit/>
          </a:bodyPr>
          <a:lstStyle/>
          <a:p>
            <a:r>
              <a:rPr lang="en-US" sz="2200" dirty="0">
                <a:latin typeface="Franklin Gothic Book" panose="020B0503020102020204"/>
              </a:rPr>
              <a:t>Microsoft Learn Documentation: Power BI Data Modeling, Star Schema Architecture, and DAX Reference. </a:t>
            </a:r>
          </a:p>
          <a:p>
            <a:r>
              <a:rPr lang="en-US" sz="2200" dirty="0">
                <a:latin typeface="Franklin Gothic Book" panose="020B0503020102020204"/>
              </a:rPr>
              <a:t>FinOps Foundation: Cloud Financial Management Frameworks and Best Practices. </a:t>
            </a:r>
          </a:p>
          <a:p>
            <a:r>
              <a:rPr lang="en-US" sz="2200" dirty="0">
                <a:latin typeface="Franklin Gothic Book" panose="020B0503020102020204"/>
              </a:rPr>
              <a:t>GitHub Link: https://github.com/Shoaib5553/Azure-Cloud-FinOps-AI-Workload-Optimization-Dashboard.git</a:t>
            </a:r>
            <a:endParaRPr lang="en-IN" sz="2200" dirty="0">
              <a:latin typeface="Franklin Gothic Book" panose="020B05030201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628</Words>
  <Application>Microsoft Office PowerPoint</Application>
  <PresentationFormat>Widescreen</PresentationFormat>
  <Paragraphs>52</Paragraphs>
  <Slides>14</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Franklin Gothic Book</vt:lpstr>
      <vt:lpstr>1_Office Theme</vt:lpstr>
      <vt:lpstr>Custom Design</vt:lpstr>
      <vt:lpstr>PowerPoint Presentation</vt:lpstr>
      <vt:lpstr>OUTLINE:</vt:lpstr>
      <vt:lpstr>Problem Statement:</vt:lpstr>
      <vt:lpstr>Proposed system/solution:</vt:lpstr>
      <vt:lpstr>System  Approach:</vt:lpstr>
      <vt:lpstr>Algorithm and deployment:</vt:lpstr>
      <vt:lpstr>Results:</vt:lpstr>
      <vt:lpstr>Results:</vt:lpstr>
      <vt:lpstr>Results:</vt:lpstr>
      <vt:lpstr>Results:</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Shoaib Shaikh</cp:lastModifiedBy>
  <cp:revision>104</cp:revision>
  <dcterms:created xsi:type="dcterms:W3CDTF">2024-05-21T11:55:00Z</dcterms:created>
  <dcterms:modified xsi:type="dcterms:W3CDTF">2026-03-14T15:14:26Z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